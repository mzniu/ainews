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4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8824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各位好。今天介绍的是一套面向企业的智能内容生产平台。它不绑定某一类资讯，行业新闻、官网内容、内部素材、活动稿件都可以接入，统一加工成适合短视频平台发布的成片。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很多企业的内容团队并不是缺素材，而是缺效率。采购这类系统，本质上是在买产能、一致性和风控能力。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把内容生产从项目制变成流水线。对企业采购来说，价值是缩短制作周期、降低人力依赖、提升发布效率、控制合规风险。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这不是单点工具，而是可配置的内容生产平台。采购方重点看：能不能接你们的源、能不能控你们的流程、能不能扩你们的平台。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左边是输入：不限来源。中间是加工：系统完成重复劳动，人在关键节点确认。右边是输出：按平台规则校验后分发。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接入足够灵活。不绑死某几家媒体，也不绑死某一种内容形态。新增来源主要通过配置扩展。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智能加工而不是简单摘要。运营不需要从零写稿，在系统版本上审核修改确认。模型不绑定单一供应商。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帮团队做选题和配图决策。把80%的重复判断自动化，让专业人员把时间花在真正需要创意的20%上。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具备视频生产的技术深度，但使用门槛足够低。不是买一个会剪视频的工具，而是买一套能规模化出片的生产能力。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发布中心把最后一公里也纳入系统。坚持半自动而非全自动，关键发布动作保留人工确认，符合企业内控要求。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合规与风控是企业采购时最看重的差异项。在前端把大部分低级风险拦下来，减少返工和限流问题。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技术能力再强，如果只有技术同事能用，对企业价值就有限。全流程浏览器操作，运营人员即可日常使用。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同一套平台支撑不同部门、不同节奏的内容需求。采购时可以理解成一套系统覆盖多种业务场景。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演示：导入一篇普通内容，一键生成文案，自动合成竖屏视频，打开发布中心展示扫码发布流程。重点关注操作是否简单、速度是否够快。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模块化架构，可私有化部署，不绑定单一AI厂商。对企业采购来说，是可交付、可运维、可扩展的内容生产系统。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用效率、成本、风险、扩展、落地五个指标评估。这比用了什么模型更能帮助采购决策。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建议分阶段落地：先试点验证ROI，再推广使用，最后规模扩展。先小范围验证，再扩大投入。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总结三句话。建议用贵司真实内容做一次试点验证。谢谢各位。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548640"/>
            <a:ext cx="3017520" cy="4023360"/>
          </a:xfrm>
          <a:prstGeom prst="roundRect">
            <a:avLst>
              <a:gd name="adj" fmla="val 3030"/>
            </a:avLst>
          </a:prstGeom>
          <a:solidFill>
            <a:srgbClr val="2A2A2E">
              <a:alpha val="85000"/>
            </a:srgbClr>
          </a:solidFill>
          <a:ln w="9525">
            <a:solidFill>
              <a:srgbClr val="B895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822960"/>
            <a:ext cx="2011680" cy="3474720"/>
          </a:xfrm>
          <a:prstGeom prst="roundRect">
            <a:avLst>
              <a:gd name="adj" fmla="val 5455"/>
            </a:avLst>
          </a:prstGeom>
          <a:solidFill>
            <a:srgbClr val="141416">
              <a:alpha val="80000"/>
            </a:srgbClr>
          </a:solidFill>
          <a:ln w="6350">
            <a:solidFill>
              <a:srgbClr val="D4B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0" y="2286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B896"/>
                </a:solidFill>
              </a:rPr>
              <a:t>9:16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AF9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智能内容生产平台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4DE"/>
                </a:solidFill>
              </a:rPr>
              <a:t>多源资讯与素材 · 一键生成短视频 · 多平台发布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956B"/>
                </a:solidFill>
              </a:rPr>
              <a:t>企业级 · 可私有化部署 · 浏览器即用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4DE"/>
                </a:solidFill>
              </a:rPr>
              <a:t>AINews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企业内容团队的现实挑战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3441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6"/>
                </a:solidFill>
              </a:rPr>
              <a:t>来源分散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25880" y="17373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A65"/>
                </a:solidFill>
              </a:rPr>
              <a:t>官网、媒体、内部文档、活动素材各自为政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00600" y="114300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83480" y="1371600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4630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13441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6"/>
                </a:solidFill>
              </a:rPr>
              <a:t>链路冗长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5623560" y="17373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A65"/>
                </a:solidFill>
              </a:rPr>
              <a:t>选题→写稿→配图→剪辑→配音→审核→发布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02920" y="301752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5800" y="3246120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3375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2186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6"/>
                </a:solidFill>
              </a:rPr>
              <a:t>平台各异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325880" y="36118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A65"/>
                </a:solidFill>
              </a:rPr>
              <a:t>标题、标签、时长、合规规则不统一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800600" y="3017520"/>
            <a:ext cx="3977640" cy="1600200"/>
          </a:xfrm>
          <a:prstGeom prst="roundRect">
            <a:avLst>
              <a:gd name="adj" fmla="val 4571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983480" y="3246120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33756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23560" y="32186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416"/>
                </a:solidFill>
              </a:rPr>
              <a:t>产能不足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623560" y="36118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A65"/>
                </a:solidFill>
              </a:rPr>
              <a:t>人力成本高，产出节奏跟不上业务需求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0292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B8956B"/>
                </a:solidFill>
              </a:rPr>
              <a:t>团队很忙，但内容产出跟不上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65"/>
                </a:solidFill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一套系统，打通内容生产全链路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41416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600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9F7"/>
                </a:solidFill>
              </a:rPr>
              <a:t>接入灵活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14600" y="1691640"/>
            <a:ext cx="109728" cy="182880"/>
          </a:xfrm>
          <a:prstGeom prst="rightArrow">
            <a:avLst/>
          </a:prstGeom>
          <a:solidFill>
            <a:srgbClr val="B8956B"/>
          </a:solidFill>
          <a:ln w="12700">
            <a:solidFill>
              <a:srgbClr val="B895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51760" y="10972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41416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51760" y="1600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9F7"/>
                </a:solidFill>
              </a:rPr>
              <a:t>加工智能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1691640"/>
            <a:ext cx="109728" cy="182880"/>
          </a:xfrm>
          <a:prstGeom prst="rightArrow">
            <a:avLst/>
          </a:prstGeom>
          <a:solidFill>
            <a:srgbClr val="B8956B"/>
          </a:solidFill>
          <a:ln w="12700">
            <a:solidFill>
              <a:srgbClr val="B895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0972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41416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600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9F7"/>
                </a:solidFill>
              </a:rPr>
              <a:t>成片快速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12280" y="1691640"/>
            <a:ext cx="109728" cy="182880"/>
          </a:xfrm>
          <a:prstGeom prst="rightArrow">
            <a:avLst/>
          </a:prstGeom>
          <a:solidFill>
            <a:srgbClr val="B8956B"/>
          </a:solidFill>
          <a:ln w="12700">
            <a:solidFill>
              <a:srgbClr val="B895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0" y="109728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141416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49440" y="1600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9F7"/>
                </a:solidFill>
              </a:rPr>
              <a:t>发布可控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不限资讯类型，任意图文素材均可接入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重复环节自动化，关键节点保留人工审核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本地部署，数据与账号企业自主掌控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97764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0ECE6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3977640"/>
            <a:ext cx="4069080" cy="868680"/>
          </a:xfrm>
          <a:prstGeom prst="roundRect">
            <a:avLst>
              <a:gd name="adj" fmla="val 8421"/>
            </a:avLst>
          </a:prstGeom>
          <a:solidFill>
            <a:srgbClr val="2A2A2E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4160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A65"/>
                </a:solidFill>
              </a:rPr>
              <a:t>传统：多工具 + 多角色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4160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B896"/>
                </a:solidFill>
              </a:rPr>
              <a:t>本平台：一条链路完成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65"/>
                </a:solidFill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面向企业的内容生产与分发平台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23660" y="1101090"/>
            <a:ext cx="1005840" cy="548640"/>
          </a:xfrm>
          <a:prstGeom prst="ellipse">
            <a:avLst/>
          </a:prstGeom>
          <a:solidFill>
            <a:srgbClr val="F0ECE6"/>
          </a:solidFill>
          <a:ln w="9525">
            <a:solidFill>
              <a:srgbClr val="B895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3660" y="121081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1416"/>
                </a:solidFill>
              </a:rPr>
              <a:t>品牌市场部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815094" y="1954067"/>
            <a:ext cx="1005840" cy="548640"/>
          </a:xfrm>
          <a:prstGeom prst="ellipse">
            <a:avLst/>
          </a:prstGeom>
          <a:solidFill>
            <a:srgbClr val="F0ECE6"/>
          </a:solidFill>
          <a:ln w="9525">
            <a:solidFill>
              <a:srgbClr val="B895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5094" y="2063795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1416"/>
                </a:solidFill>
              </a:rPr>
              <a:t>新媒体运营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283613" y="3334213"/>
            <a:ext cx="1005840" cy="548640"/>
          </a:xfrm>
          <a:prstGeom prst="ellipse">
            <a:avLst/>
          </a:prstGeom>
          <a:solidFill>
            <a:srgbClr val="F0ECE6"/>
          </a:solidFill>
          <a:ln w="9525">
            <a:solidFill>
              <a:srgbClr val="B895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83613" y="3443941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1416"/>
                </a:solidFill>
              </a:rPr>
              <a:t>政企宣传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563707" y="3334213"/>
            <a:ext cx="1005840" cy="548640"/>
          </a:xfrm>
          <a:prstGeom prst="ellipse">
            <a:avLst/>
          </a:prstGeom>
          <a:solidFill>
            <a:srgbClr val="F0ECE6"/>
          </a:solidFill>
          <a:ln w="9525">
            <a:solidFill>
              <a:srgbClr val="B895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63707" y="3443941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1416"/>
                </a:solidFill>
              </a:rPr>
              <a:t>行业资讯运营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32226" y="1954067"/>
            <a:ext cx="1005840" cy="548640"/>
          </a:xfrm>
          <a:prstGeom prst="ellipse">
            <a:avLst/>
          </a:prstGeom>
          <a:solidFill>
            <a:srgbClr val="F0ECE6"/>
          </a:solidFill>
          <a:ln w="9525">
            <a:solidFill>
              <a:srgbClr val="B895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32226" y="2063795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41416"/>
                </a:solidFill>
              </a:rPr>
              <a:t>产品营销团队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1051560"/>
            <a:ext cx="4389120" cy="3200400"/>
          </a:xfrm>
          <a:prstGeom prst="roundRect">
            <a:avLst>
              <a:gd name="adj" fmla="val 2286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1234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6"/>
                </a:solidFill>
              </a:rPr>
              <a:t>平台界面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1691640"/>
            <a:ext cx="3840480" cy="320040"/>
          </a:xfrm>
          <a:prstGeom prst="rect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17373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AF9F7"/>
                </a:solidFill>
              </a:rPr>
              <a:t>内容快做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783080" y="17373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AF9F7"/>
                </a:solidFill>
              </a:rPr>
              <a:t>内容库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97480" y="17373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AF9F7"/>
                </a:solidFill>
              </a:rPr>
              <a:t>发布中心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611880" y="173736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AF9F7"/>
                </a:solidFill>
              </a:rPr>
              <a:t>设置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77240" y="2103120"/>
            <a:ext cx="3840480" cy="1920240"/>
          </a:xfrm>
          <a:prstGeom prst="rect">
            <a:avLst/>
          </a:prstGeom>
          <a:solidFill>
            <a:srgbClr val="FAF9F7"/>
          </a:solidFill>
          <a:ln w="6350">
            <a:solidFill>
              <a:srgbClr val="E0DB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956B"/>
                </a:solidFill>
              </a:rPr>
              <a:t>可配置 · 可审核 · 可扩展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65"/>
                </a:solidFill>
              </a:rPr>
              <a:t>4 / 18</a:t>
            </a:r>
            <a:endParaRPr lang="en-US" sz="900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E7488A10-2C3D-951C-1E68-256EEACB5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58" y="1540002"/>
            <a:ext cx="3901662" cy="25370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从素材到发布，一条链路完成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234440"/>
            <a:ext cx="1024128" cy="68580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41732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9F7"/>
                </a:solidFill>
              </a:rPr>
              <a:t>多源接入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353312" y="1481328"/>
            <a:ext cx="45720" cy="164592"/>
          </a:xfrm>
          <a:prstGeom prst="rightArrow">
            <a:avLst/>
          </a:prstGeom>
          <a:solidFill>
            <a:srgbClr val="6E6A65"/>
          </a:solidFill>
          <a:ln w="12700">
            <a:solidFill>
              <a:srgbClr val="6E6A6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99032" y="1234440"/>
            <a:ext cx="1024128" cy="685800"/>
          </a:xfrm>
          <a:prstGeom prst="roundRect">
            <a:avLst>
              <a:gd name="adj" fmla="val 8000"/>
            </a:avLst>
          </a:prstGeom>
          <a:solidFill>
            <a:srgbClr val="96785A"/>
          </a:solidFill>
          <a:ln w="12700">
            <a:solidFill>
              <a:srgbClr val="9678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99032" y="141732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9F7"/>
                </a:solidFill>
              </a:rPr>
              <a:t>统一入库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32304" y="1481328"/>
            <a:ext cx="45720" cy="164592"/>
          </a:xfrm>
          <a:prstGeom prst="rightArrow">
            <a:avLst/>
          </a:prstGeom>
          <a:solidFill>
            <a:srgbClr val="6E6A65"/>
          </a:solidFill>
          <a:ln w="12700">
            <a:solidFill>
              <a:srgbClr val="6E6A6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78024" y="1234440"/>
            <a:ext cx="1024128" cy="68580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78024" y="141732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9F7"/>
                </a:solidFill>
              </a:rPr>
              <a:t>智能选题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11296" y="1481328"/>
            <a:ext cx="45720" cy="164592"/>
          </a:xfrm>
          <a:prstGeom prst="rightArrow">
            <a:avLst/>
          </a:prstGeom>
          <a:solidFill>
            <a:srgbClr val="6E6A65"/>
          </a:solidFill>
          <a:ln w="12700">
            <a:solidFill>
              <a:srgbClr val="6E6A6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57016" y="1234440"/>
            <a:ext cx="1024128" cy="685800"/>
          </a:xfrm>
          <a:prstGeom prst="roundRect">
            <a:avLst>
              <a:gd name="adj" fmla="val 8000"/>
            </a:avLst>
          </a:prstGeom>
          <a:solidFill>
            <a:srgbClr val="96785A"/>
          </a:solidFill>
          <a:ln w="12700">
            <a:solidFill>
              <a:srgbClr val="9678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7016" y="141732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9F7"/>
                </a:solidFill>
              </a:rPr>
              <a:t>文案生成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90288" y="1481328"/>
            <a:ext cx="45720" cy="164592"/>
          </a:xfrm>
          <a:prstGeom prst="rightArrow">
            <a:avLst/>
          </a:prstGeom>
          <a:solidFill>
            <a:srgbClr val="6E6A65"/>
          </a:solidFill>
          <a:ln w="12700">
            <a:solidFill>
              <a:srgbClr val="6E6A6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36008" y="1234440"/>
            <a:ext cx="1024128" cy="68580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6008" y="141732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9F7"/>
                </a:solidFill>
              </a:rPr>
              <a:t>素材匹配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9280" y="1481328"/>
            <a:ext cx="45720" cy="164592"/>
          </a:xfrm>
          <a:prstGeom prst="rightArrow">
            <a:avLst/>
          </a:prstGeom>
          <a:solidFill>
            <a:srgbClr val="6E6A65"/>
          </a:solidFill>
          <a:ln w="12700">
            <a:solidFill>
              <a:srgbClr val="6E6A6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15000" y="1234440"/>
            <a:ext cx="1024128" cy="685800"/>
          </a:xfrm>
          <a:prstGeom prst="roundRect">
            <a:avLst>
              <a:gd name="adj" fmla="val 8000"/>
            </a:avLst>
          </a:prstGeom>
          <a:solidFill>
            <a:srgbClr val="96785A"/>
          </a:solidFill>
          <a:ln w="12700">
            <a:solidFill>
              <a:srgbClr val="9678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141732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9F7"/>
                </a:solidFill>
              </a:rPr>
              <a:t>视频合成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48272" y="1481328"/>
            <a:ext cx="45720" cy="164592"/>
          </a:xfrm>
          <a:prstGeom prst="rightArrow">
            <a:avLst/>
          </a:prstGeom>
          <a:solidFill>
            <a:srgbClr val="6E6A65"/>
          </a:solidFill>
          <a:ln w="12700">
            <a:solidFill>
              <a:srgbClr val="6E6A6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93992" y="1234440"/>
            <a:ext cx="1024128" cy="68580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93992" y="141732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9F7"/>
                </a:solidFill>
              </a:rPr>
              <a:t>合规校验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827264" y="1481328"/>
            <a:ext cx="45720" cy="164592"/>
          </a:xfrm>
          <a:prstGeom prst="rightArrow">
            <a:avLst/>
          </a:prstGeom>
          <a:solidFill>
            <a:srgbClr val="6E6A65"/>
          </a:solidFill>
          <a:ln w="12700">
            <a:solidFill>
              <a:srgbClr val="6E6A6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72984" y="1234440"/>
            <a:ext cx="1024128" cy="685800"/>
          </a:xfrm>
          <a:prstGeom prst="roundRect">
            <a:avLst>
              <a:gd name="adj" fmla="val 8000"/>
            </a:avLst>
          </a:prstGeom>
          <a:solidFill>
            <a:srgbClr val="96785A"/>
          </a:solidFill>
          <a:ln w="12700">
            <a:solidFill>
              <a:srgbClr val="9678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72984" y="141732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AF9F7"/>
                </a:solidFill>
              </a:rPr>
              <a:t>多平台发布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23317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" y="2606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B896"/>
                </a:solidFill>
              </a:rPr>
              <a:t>单条快做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337560" y="23317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37560" y="2606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956B"/>
                </a:solidFill>
              </a:rPr>
              <a:t>批量选题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2200" y="23317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72200" y="26060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416"/>
                </a:solidFill>
              </a:rPr>
              <a:t>排期发布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292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E6A65"/>
                </a:solidFill>
              </a:rPr>
              <a:t>三个入口，覆盖不同业务节奏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02920" y="384048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F0ECE6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5800" y="4069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416"/>
                </a:solidFill>
              </a:rPr>
              <a:t>把分散的工具和人工协作，收敛成一套标准流程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65"/>
                </a:solidFill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任何资讯、任何素材，都能接入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298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6"/>
                </a:solidFill>
              </a:rPr>
              <a:t>定时采集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25880" y="16276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5"/>
                </a:solidFill>
              </a:rPr>
              <a:t>按企业需求配置多个资讯源，自动入库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233172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85800" y="2606040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974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532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6"/>
                </a:solidFill>
              </a:rPr>
              <a:t>链接导入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325880" y="2862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5"/>
                </a:solidFill>
              </a:rPr>
              <a:t>粘贴任意 URL，快速处理单条内容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2920" y="356616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5800" y="3840480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9319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7673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6"/>
                </a:solidFill>
              </a:rPr>
              <a:t>手动录入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325880" y="409651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5"/>
                </a:solidFill>
              </a:rPr>
              <a:t>直接粘贴正文或上传图文素材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754880" y="1097280"/>
            <a:ext cx="3886200" cy="3611880"/>
          </a:xfrm>
          <a:prstGeom prst="roundRect">
            <a:avLst>
              <a:gd name="adj" fmla="val 2025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493776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6"/>
                </a:solidFill>
              </a:rPr>
              <a:t>内容库示意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983480" y="1691640"/>
            <a:ext cx="3429000" cy="502920"/>
          </a:xfrm>
          <a:prstGeom prst="rect">
            <a:avLst/>
          </a:prstGeom>
          <a:solidFill>
            <a:srgbClr val="FAF9F7"/>
          </a:solidFill>
          <a:ln w="6350">
            <a:solidFill>
              <a:srgbClr val="E0DBD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120640" y="1810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E"/>
                </a:solidFill>
              </a:rPr>
              <a:t>行业媒体资讯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983480" y="2377440"/>
            <a:ext cx="3429000" cy="502920"/>
          </a:xfrm>
          <a:prstGeom prst="rect">
            <a:avLst/>
          </a:prstGeom>
          <a:solidFill>
            <a:srgbClr val="FAF9F7"/>
          </a:solidFill>
          <a:ln w="6350">
            <a:solidFill>
              <a:srgbClr val="E0DBD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120640" y="24963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E"/>
                </a:solidFill>
              </a:rPr>
              <a:t>企业官网文章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983480" y="3063240"/>
            <a:ext cx="3429000" cy="502920"/>
          </a:xfrm>
          <a:prstGeom prst="rect">
            <a:avLst/>
          </a:prstGeom>
          <a:solidFill>
            <a:srgbClr val="FAF9F7"/>
          </a:solidFill>
          <a:ln w="6350">
            <a:solidFill>
              <a:srgbClr val="E0DBD4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120640" y="3182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E"/>
                </a:solidFill>
              </a:rPr>
              <a:t>活动通稿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983480" y="3749040"/>
            <a:ext cx="3429000" cy="502920"/>
          </a:xfrm>
          <a:prstGeom prst="rect">
            <a:avLst/>
          </a:prstGeom>
          <a:solidFill>
            <a:srgbClr val="FAF9F7"/>
          </a:solidFill>
          <a:ln w="6350">
            <a:solidFill>
              <a:srgbClr val="E0DBD4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120640" y="3867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E"/>
                </a:solidFill>
              </a:rPr>
              <a:t>内部资料文档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2959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956B"/>
                </a:solidFill>
              </a:rPr>
              <a:t>多源同题合并 · 新增来源可配置扩展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65"/>
                </a:solidFill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自动生成，人工确认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657600" cy="3291840"/>
          </a:xfrm>
          <a:prstGeom prst="roundRect">
            <a:avLst>
              <a:gd name="adj" fmla="val 2222"/>
            </a:avLst>
          </a:prstGeom>
          <a:solidFill>
            <a:srgbClr val="F0ECE6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6"/>
                </a:solidFill>
              </a:rPr>
              <a:t>输入：原文内容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A65"/>
                </a:solidFill>
              </a:rPr>
              <a:t>……文章正文与配图……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51960" y="2468880"/>
            <a:ext cx="457200" cy="320040"/>
          </a:xfrm>
          <a:prstGeom prst="rightArrow">
            <a:avLst/>
          </a:prstGeom>
          <a:solidFill>
            <a:srgbClr val="96785A"/>
          </a:solidFill>
          <a:ln w="12700">
            <a:solidFill>
              <a:srgbClr val="9678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60520" y="2834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956B"/>
                </a:solidFill>
              </a:rPr>
              <a:t>一键生成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794760" cy="3291840"/>
          </a:xfrm>
          <a:prstGeom prst="roundRect">
            <a:avLst>
              <a:gd name="adj" fmla="val 2222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416"/>
                </a:solidFill>
              </a:rPr>
              <a:t>输出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55448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标题 · 摘要 · 口播稿 · 话题标签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按平台特性优化文案结构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内置合规检测，敏感表述自动拦截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支持多家大模型，可按场景切换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18120" y="4160520"/>
            <a:ext cx="502920" cy="502920"/>
          </a:xfrm>
          <a:prstGeom prst="ellipse">
            <a:avLst/>
          </a:prstGeom>
          <a:solidFill>
            <a:srgbClr val="96785A"/>
          </a:solidFill>
          <a:ln w="12700">
            <a:solidFill>
              <a:srgbClr val="96785A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425196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65"/>
                </a:solidFill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帮团队做选题和配图决策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173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6"/>
                </a:solidFill>
              </a:rPr>
              <a:t>内容评分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15819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5"/>
                </a:solidFill>
              </a:rPr>
              <a:t>自动评估优先级，推荐高价值选题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228600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85800" y="2560320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517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6"/>
                </a:solidFill>
              </a:rPr>
              <a:t>智能配图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325880" y="28163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5"/>
                </a:solidFill>
              </a:rPr>
              <a:t>评估图片相关性，自动挑选最佳素材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2920" y="352044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5800" y="3794760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862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6"/>
                </a:solidFill>
              </a:rPr>
              <a:t>素材处理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325880" y="4050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5"/>
                </a:solidFill>
              </a:rPr>
              <a:t>封面生成 · 去水印 · 裁剪替换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892040" y="1051560"/>
            <a:ext cx="3749040" cy="3611880"/>
          </a:xfrm>
          <a:prstGeom prst="roundRect">
            <a:avLst>
              <a:gd name="adj" fmla="val 2025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074920" y="128016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B8956B"/>
          </a:solidFill>
          <a:ln w="12700">
            <a:solidFill>
              <a:srgbClr val="B8956B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074920" y="1298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9F7"/>
                </a:solidFill>
              </a:rPr>
              <a:t>S 级选题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074920" y="178308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074920" y="1801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9F7"/>
                </a:solidFill>
              </a:rPr>
              <a:t>A 级选题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074920" y="228600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6E6A65"/>
          </a:solidFill>
          <a:ln w="12700">
            <a:solidFill>
              <a:srgbClr val="6E6A6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074920" y="23042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9F7"/>
                </a:solidFill>
              </a:rPr>
              <a:t>B 级选题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309360" y="2743200"/>
            <a:ext cx="594360" cy="914400"/>
          </a:xfrm>
          <a:prstGeom prst="rect">
            <a:avLst/>
          </a:prstGeom>
          <a:solidFill>
            <a:srgbClr val="F0ECE6"/>
          </a:solidFill>
          <a:ln w="6350">
            <a:solidFill>
              <a:srgbClr val="E0DBD4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995160" y="2743200"/>
            <a:ext cx="594360" cy="914400"/>
          </a:xfrm>
          <a:prstGeom prst="rect">
            <a:avLst/>
          </a:prstGeom>
          <a:solidFill>
            <a:srgbClr val="F0ECE6"/>
          </a:solidFill>
          <a:ln w="25400">
            <a:solidFill>
              <a:srgbClr val="B8956B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680960" y="2743200"/>
            <a:ext cx="594360" cy="914400"/>
          </a:xfrm>
          <a:prstGeom prst="rect">
            <a:avLst/>
          </a:prstGeom>
          <a:solidFill>
            <a:srgbClr val="F0ECE6"/>
          </a:solidFill>
          <a:ln w="6350">
            <a:solidFill>
              <a:srgbClr val="E0DBD4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0292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956B"/>
                </a:solidFill>
              </a:rPr>
              <a:t>80% 重复判断自动化，专业人员聚焦创意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65"/>
                </a:solidFill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图文内容，稳定转成可发布视频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2194560" cy="3474720"/>
          </a:xfrm>
          <a:prstGeom prst="roundRect">
            <a:avLst>
              <a:gd name="adj" fmla="val 4167"/>
            </a:avLst>
          </a:prstGeom>
          <a:solidFill>
            <a:srgbClr val="141416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34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4DE"/>
                </a:solidFill>
              </a:rPr>
              <a:t>竖屏 9:16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F9F7"/>
                </a:solidFill>
              </a:rPr>
              <a:t>标题示例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2606040"/>
            <a:ext cx="1645920" cy="1097280"/>
          </a:xfrm>
          <a:prstGeom prst="rect">
            <a:avLst/>
          </a:prstGeom>
          <a:solidFill>
            <a:srgbClr val="96785A"/>
          </a:solidFill>
          <a:ln w="12700">
            <a:solidFill>
              <a:srgbClr val="9678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B896"/>
                </a:solidFill>
              </a:rPr>
              <a:t>滚动字幕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26080" y="114300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标准竖屏 1080×1920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关键帧 · 字幕 · 配乐 · 配音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语音与声音克隆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C1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数字人 · 画中画 · 品牌模板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143000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23444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99516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6"/>
                </a:solidFill>
              </a:rPr>
              <a:t>视频合成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55080" y="2194560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22860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9516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6"/>
                </a:solidFill>
              </a:rPr>
              <a:t>配音旁白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355080" y="3246120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3375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0" y="3383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1416"/>
                </a:solidFill>
              </a:rPr>
              <a:t>品牌模板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65"/>
                </a:solidFill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生成之后，直接发布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4572000" cy="3383280"/>
          </a:xfrm>
          <a:prstGeom prst="roundRect">
            <a:avLst>
              <a:gd name="adj" fmla="val 2162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6"/>
                </a:solidFill>
              </a:rPr>
              <a:t>发布中心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1C1C1E"/>
                </a:solidFill>
              </a:rPr>
              <a:t>微信视频号</a:t>
            </a:r>
            <a:r>
              <a:rPr lang="en-US" sz="1300" dirty="0">
                <a:solidFill>
                  <a:srgbClr val="1C1C1E"/>
                </a:solidFill>
              </a:rPr>
              <a:t> </a:t>
            </a:r>
            <a:r>
              <a:rPr lang="en-US" altLang="zh-CN" sz="1300" dirty="0" err="1">
                <a:solidFill>
                  <a:srgbClr val="1C1C1E"/>
                </a:solidFill>
              </a:rPr>
              <a:t>抖音</a:t>
            </a:r>
            <a:r>
              <a:rPr lang="en-US" sz="1300" dirty="0">
                <a:solidFill>
                  <a:srgbClr val="1C1C1E"/>
                </a:solidFill>
              </a:rPr>
              <a:t> ✅ 已支持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1E"/>
                </a:solidFill>
              </a:rPr>
              <a:t>快手 / 小红书  持续扩展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A65"/>
                </a:solidFill>
              </a:rPr>
              <a:t>任务队列 · 状态跟踪 · 失败重试 · 发布前人工确认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65"/>
                </a:solidFill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内置合规，降低发布风险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6"/>
                </a:solidFill>
              </a:rPr>
              <a:t>内容合规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25880" y="162763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5"/>
                </a:solidFill>
              </a:rPr>
              <a:t>违禁词、敏感表述、夸大宣传检测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233172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85800" y="2606040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974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6"/>
                </a:solidFill>
              </a:rPr>
              <a:t>平台规则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325880" y="28620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5"/>
                </a:solidFill>
              </a:rPr>
              <a:t>标题长度、标签数量、格式自动校验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2920" y="356616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5800" y="3840480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9319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416"/>
                </a:solidFill>
              </a:rPr>
              <a:t>发布审核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325880" y="409651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5"/>
                </a:solidFill>
              </a:rPr>
              <a:t>最后一道人工确认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0" y="1097280"/>
            <a:ext cx="3154680" cy="3383280"/>
          </a:xfrm>
          <a:prstGeom prst="roundRect">
            <a:avLst>
              <a:gd name="adj" fmla="val 2319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566928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B896"/>
                </a:solidFill>
              </a:rPr>
              <a:t>✓  检测通过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66928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E4B4B"/>
                </a:solidFill>
              </a:rPr>
              <a:t>✕  风险拦截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486400" y="41605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A65"/>
                </a:solidFill>
              </a:rPr>
              <a:t>适用：品牌企业 · 政企客户 · 强监管行业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65"/>
                </a:solidFill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无需技术背景，浏览器即用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463040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544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6"/>
                </a:solidFill>
              </a:rPr>
              <a:t>内容快做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25880" y="17647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5"/>
                </a:solidFill>
              </a:rPr>
              <a:t>单条内容快速处理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00600" y="105156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83480" y="1463040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5544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6"/>
                </a:solidFill>
              </a:rPr>
              <a:t>内容库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623560" y="176479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5"/>
                </a:solidFill>
              </a:rPr>
              <a:t>批量浏览与选题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2920" y="27432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5800" y="3154680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461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6"/>
                </a:solidFill>
              </a:rPr>
              <a:t>发布中心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325880" y="34564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5"/>
                </a:solidFill>
              </a:rPr>
              <a:t>账号管理与发布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800600" y="274320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983480" y="3154680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2461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2356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416"/>
                </a:solidFill>
              </a:rPr>
              <a:t>系统设置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5623560" y="34564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A65"/>
                </a:solidFill>
              </a:rPr>
              <a:t>模型、来源、账号配置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0292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956B"/>
                </a:solidFill>
              </a:rPr>
              <a:t>低培训成本 · 低人员替换成本 · 不依赖单一技术同事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65"/>
                </a:solidFill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同一平台，支撑不同业务节奏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143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416"/>
                </a:solidFill>
              </a:rPr>
              <a:t>单条快发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956B"/>
                </a:solidFill>
              </a:rPr>
              <a:t>~5 分钟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A65"/>
                </a:solidFill>
              </a:rPr>
              <a:t>部门：市场 / 运营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A65"/>
                </a:solidFill>
              </a:rPr>
              <a:t>流程：导入→生成→审核→发布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3977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956B"/>
                </a:solidFill>
              </a:rPr>
              <a:t>热点快速响应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00584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141416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143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9F7"/>
                </a:solidFill>
              </a:rPr>
              <a:t>批量日更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37560" y="1600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B896"/>
                </a:solidFill>
              </a:rPr>
              <a:t>100+ 条/天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74720" y="2240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4DE"/>
                </a:solidFill>
              </a:rPr>
              <a:t>部门：内容团队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606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4DE"/>
                </a:solidFill>
              </a:rPr>
              <a:t>流程：选题→批量生成→排期发布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3977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B896"/>
                </a:solidFill>
              </a:rPr>
              <a:t>产能倍增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1005840"/>
            <a:ext cx="2606040" cy="3520440"/>
          </a:xfrm>
          <a:prstGeom prst="roundRect">
            <a:avLst>
              <a:gd name="adj" fmla="val 2807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1143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416"/>
                </a:solidFill>
              </a:rPr>
              <a:t>专题品牌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72200" y="1600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956B"/>
                </a:solidFill>
              </a:rPr>
              <a:t>统一视觉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09360" y="22402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A65"/>
                </a:solidFill>
              </a:rPr>
              <a:t>部门：品牌 / 公关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26060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A65"/>
                </a:solidFill>
              </a:rPr>
              <a:t>流程：定制素材+模板→专题成片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3977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956B"/>
                </a:solidFill>
              </a:rPr>
              <a:t>品牌一致性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65"/>
                </a:solidFill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9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三分钟，看完整流程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143000" y="1645920"/>
            <a:ext cx="640080" cy="640080"/>
          </a:xfrm>
          <a:prstGeom prst="ellipse">
            <a:avLst/>
          </a:prstGeom>
          <a:solidFill>
            <a:srgbClr val="B8956B"/>
          </a:solidFill>
          <a:ln w="12700">
            <a:solidFill>
              <a:srgbClr val="B895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1783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AF9F7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4DE"/>
                </a:solidFill>
              </a:rPr>
              <a:t>导入内容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31720" y="1874520"/>
            <a:ext cx="320040" cy="182880"/>
          </a:xfrm>
          <a:prstGeom prst="rightArrow">
            <a:avLst/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1645920"/>
            <a:ext cx="640080" cy="640080"/>
          </a:xfrm>
          <a:prstGeom prst="ellipse">
            <a:avLst/>
          </a:prstGeom>
          <a:solidFill>
            <a:srgbClr val="B8956B"/>
          </a:solidFill>
          <a:ln w="12700">
            <a:solidFill>
              <a:srgbClr val="B895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783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AF9F7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4DE"/>
                </a:solidFill>
              </a:rPr>
              <a:t>生成文案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1874520"/>
            <a:ext cx="320040" cy="182880"/>
          </a:xfrm>
          <a:prstGeom prst="rightArrow">
            <a:avLst/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1645920"/>
            <a:ext cx="640080" cy="640080"/>
          </a:xfrm>
          <a:prstGeom prst="ellipse">
            <a:avLst/>
          </a:prstGeom>
          <a:solidFill>
            <a:srgbClr val="B8956B"/>
          </a:solidFill>
          <a:ln w="12700">
            <a:solidFill>
              <a:srgbClr val="B895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9240" y="1783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AF9F7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4632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4DE"/>
                </a:solidFill>
              </a:rPr>
              <a:t>合成视频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37960" y="1874520"/>
            <a:ext cx="320040" cy="182880"/>
          </a:xfrm>
          <a:prstGeom prst="rightArrow">
            <a:avLst/>
          </a:prstGeom>
          <a:solidFill>
            <a:srgbClr val="E8E4DE"/>
          </a:solidFill>
          <a:ln w="12700">
            <a:solidFill>
              <a:srgbClr val="E8E4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52360" y="1645920"/>
            <a:ext cx="640080" cy="640080"/>
          </a:xfrm>
          <a:prstGeom prst="ellipse">
            <a:avLst/>
          </a:prstGeom>
          <a:solidFill>
            <a:srgbClr val="B8956B"/>
          </a:solidFill>
          <a:ln w="12700">
            <a:solidFill>
              <a:srgbClr val="B895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1783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AF9F7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4944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4DE"/>
                </a:solidFill>
              </a:rPr>
              <a:t>发布流程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4B896"/>
                </a:solidFill>
              </a:rPr>
              <a:t>请关注：操作是否简单？  速度是否够快？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4DE"/>
                </a:solidFill>
              </a:rPr>
              <a:t>建议现场演示或播放录屏备份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8E4DE"/>
                </a:solidFill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可扩展、可管控、可私有化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B8956B"/>
          </a:solidFill>
          <a:ln w="12700">
            <a:solidFill>
              <a:srgbClr val="B895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9F7"/>
                </a:solidFill>
              </a:rPr>
              <a:t>操作层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12161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4DE"/>
                </a:solidFill>
              </a:rPr>
              <a:t>Web 可视化界面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11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9F7"/>
                </a:solidFill>
              </a:rPr>
              <a:t>业务层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20848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4DE"/>
                </a:solidFill>
              </a:rPr>
              <a:t>采集 · 加工 · 视频 · 发布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2A2A2E"/>
          </a:solidFill>
          <a:ln w="12700">
            <a:solidFill>
              <a:srgbClr val="2A2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80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9F7"/>
                </a:solidFill>
              </a:rPr>
              <a:t>能力层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2953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4DE"/>
                </a:solidFill>
              </a:rPr>
              <a:t>多模型 AI · 视觉 · 语音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65760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6E6A65"/>
          </a:solidFill>
          <a:ln w="12700">
            <a:solidFill>
              <a:srgbClr val="6E6A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749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9F7"/>
                </a:solidFill>
              </a:rPr>
              <a:t>数据层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38221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4DE"/>
                </a:solidFill>
              </a:rPr>
              <a:t>本地存储，企业自主掌控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06440" y="123444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1399032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490472"/>
            <a:ext cx="320040" cy="320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629400" y="1490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6"/>
                </a:solidFill>
              </a:rPr>
              <a:t>模块化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806440" y="228600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89320" y="2450592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542032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629400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6"/>
                </a:solidFill>
              </a:rPr>
              <a:t>不绑定单一厂商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806440" y="333756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989320" y="3502152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3593592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629400" y="35935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416"/>
                </a:solidFill>
              </a:rPr>
              <a:t>支持定制扩展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65"/>
                </a:solidFill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用五个指标衡量价值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051560"/>
            <a:ext cx="1572768" cy="3520440"/>
          </a:xfrm>
          <a:prstGeom prst="roundRect">
            <a:avLst>
              <a:gd name="adj" fmla="val 4651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41832" y="1371600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14630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0574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416"/>
                </a:solidFill>
              </a:rPr>
              <a:t>效率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" y="256032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A65"/>
                </a:solidFill>
              </a:rPr>
              <a:t>单条制作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E6A65"/>
                </a:solidFill>
              </a:rPr>
              <a:t>小时级→分钟级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130552" y="1051560"/>
            <a:ext cx="1572768" cy="3520440"/>
          </a:xfrm>
          <a:prstGeom prst="roundRect">
            <a:avLst>
              <a:gd name="adj" fmla="val 4651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660904" y="1371600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2344" y="14630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30552" y="20574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416"/>
                </a:solidFill>
              </a:rPr>
              <a:t>成本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2221992" y="256032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A65"/>
                </a:solidFill>
              </a:rPr>
              <a:t>减少重复人工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E6A65"/>
                </a:solidFill>
              </a:rPr>
              <a:t>提升人产能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849624" y="1051560"/>
            <a:ext cx="1572768" cy="3520440"/>
          </a:xfrm>
          <a:prstGeom prst="roundRect">
            <a:avLst>
              <a:gd name="adj" fmla="val 4651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79976" y="1371600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16" y="146304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849624" y="20574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416"/>
                </a:solidFill>
              </a:rPr>
              <a:t>风险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941064" y="256032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A65"/>
                </a:solidFill>
              </a:rPr>
              <a:t>内置合规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E6A65"/>
                </a:solidFill>
              </a:rPr>
              <a:t>降低事故概率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568696" y="1051560"/>
            <a:ext cx="1572768" cy="3520440"/>
          </a:xfrm>
          <a:prstGeom prst="roundRect">
            <a:avLst>
              <a:gd name="adj" fmla="val 4651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099048" y="1371600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146304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68696" y="20574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416"/>
                </a:solidFill>
              </a:rPr>
              <a:t>扩展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660136" y="256032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A65"/>
                </a:solidFill>
              </a:rPr>
              <a:t>来源/平台/模型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E6A65"/>
                </a:solidFill>
              </a:rPr>
              <a:t>可配置扩展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7287768" y="1051560"/>
            <a:ext cx="1572768" cy="3520440"/>
          </a:xfrm>
          <a:prstGeom prst="roundRect">
            <a:avLst>
              <a:gd name="adj" fmla="val 4651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818120" y="1371600"/>
            <a:ext cx="502920" cy="502920"/>
          </a:xfrm>
          <a:prstGeom prst="ellipse">
            <a:avLst/>
          </a:prstGeom>
          <a:solidFill>
            <a:srgbClr val="141416"/>
          </a:solidFill>
          <a:ln w="12700">
            <a:solidFill>
              <a:srgbClr val="141416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0" y="146304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287768" y="20574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416"/>
                </a:solidFill>
              </a:rPr>
              <a:t>落地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7379208" y="256032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6A65"/>
                </a:solidFill>
              </a:rPr>
              <a:t>快速上手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E6A65"/>
                </a:solidFill>
              </a:rPr>
              <a:t>缩短价值周期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65"/>
                </a:solidFill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4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分阶段落地，降低采购风险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141416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188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9F7"/>
                </a:solidFill>
              </a:rPr>
              <a:t>试点验证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645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B896"/>
                </a:solidFill>
              </a:rPr>
              <a:t>1–2 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4DE"/>
                </a:solidFill>
              </a:rPr>
              <a:t>部署环境，接入 1–2 个来源，跑通 1 个平台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2286000"/>
            <a:ext cx="137160" cy="182880"/>
          </a:xfrm>
          <a:prstGeom prst="rightArrow">
            <a:avLst/>
          </a:prstGeom>
          <a:solidFill>
            <a:srgbClr val="B8956B"/>
          </a:solidFill>
          <a:ln w="12700">
            <a:solidFill>
              <a:srgbClr val="B895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10515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188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416"/>
                </a:solidFill>
              </a:rPr>
              <a:t>推广使用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37560" y="1645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956B"/>
                </a:solidFill>
              </a:rPr>
              <a:t>约 1 个月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1488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A65"/>
                </a:solidFill>
              </a:rPr>
              <a:t>培训团队，建立选题与发布 SOP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9320" y="2286000"/>
            <a:ext cx="137160" cy="182880"/>
          </a:xfrm>
          <a:prstGeom prst="rightArrow">
            <a:avLst/>
          </a:prstGeom>
          <a:solidFill>
            <a:srgbClr val="B8956B"/>
          </a:solidFill>
          <a:ln w="12700">
            <a:solidFill>
              <a:srgbClr val="B895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0515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7F5F2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188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416"/>
                </a:solidFill>
              </a:rPr>
              <a:t>规模扩展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2200" y="1645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956B"/>
                </a:solidFill>
              </a:rPr>
              <a:t>持续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1488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A65"/>
                </a:solidFill>
              </a:rPr>
              <a:t>新增来源、平台、品牌定制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956B"/>
                </a:solidFill>
              </a:rPr>
              <a:t>合作方式：私有化部署 · 按需定制 · 运维支持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51960" y="4526280"/>
            <a:ext cx="502920" cy="502920"/>
          </a:xfrm>
          <a:prstGeom prst="ellipse">
            <a:avLst/>
          </a:prstGeom>
          <a:solidFill>
            <a:srgbClr val="B8956B"/>
          </a:solidFill>
          <a:ln w="12700">
            <a:solidFill>
              <a:srgbClr val="B8956B"/>
            </a:solidFill>
            <a:prstDash val="solid"/>
          </a:ln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4617720"/>
            <a:ext cx="320040" cy="3200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65"/>
                </a:solidFill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AF9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让内容生产，像流水线一样高效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6002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8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多源接入，不限资讯类型与素材形态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8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全流程自动化，业务人员即可独立操作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8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合规内置，兼顾效率与风控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24612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2A2A2E"/>
          </a:solidFill>
          <a:ln w="6350">
            <a:solidFill>
              <a:srgbClr val="E0DBD4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324612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B8956B">
              <a:alpha val="0"/>
            </a:srgbClr>
          </a:solidFill>
          <a:ln w="12700">
            <a:solidFill>
              <a:srgbClr val="B895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5204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B896"/>
                </a:solidFill>
              </a:rPr>
              <a:t>建议下一步：预约试点验证 · 提供样例内容试做 · 安排技术对接会议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4DE"/>
                </a:solidFill>
              </a:rPr>
              <a:t>[联系人] · [电话] · [邮箱]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729</Words>
  <Application>Microsoft Office PowerPoint</Application>
  <PresentationFormat>全屏显示(16:9)</PresentationFormat>
  <Paragraphs>244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智能内容生产平台 - 企业客户演示</dc:title>
  <dc:subject>PptxGenJS Presentation</dc:subject>
  <dc:creator>AINews</dc:creator>
  <cp:lastModifiedBy>Mingzhu Niu</cp:lastModifiedBy>
  <cp:revision>4</cp:revision>
  <dcterms:created xsi:type="dcterms:W3CDTF">2026-08-06T11:55:44Z</dcterms:created>
  <dcterms:modified xsi:type="dcterms:W3CDTF">2026-08-06T12:27:12Z</dcterms:modified>
</cp:coreProperties>
</file>